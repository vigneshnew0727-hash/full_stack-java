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 Unicode" charset="1" panose="020B0604020202020204"/>
      <p:regular r:id="rId14"/>
    </p:embeddedFont>
    <p:embeddedFont>
      <p:font typeface="Arimo" charset="1" panose="020B0604020202020204"/>
      <p:regular r:id="rId15"/>
    </p:embeddedFont>
    <p:embeddedFont>
      <p:font typeface="Arimo Bold" charset="1" panose="020B07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483140">
            <a:off x="417328" y="9913430"/>
            <a:ext cx="835743" cy="0"/>
          </a:xfrm>
          <a:prstGeom prst="line">
            <a:avLst/>
          </a:prstGeom>
          <a:ln cap="rnd" w="2857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153044" y="421919"/>
            <a:ext cx="766801" cy="33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01.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857517"/>
            <a:ext cx="5161683" cy="8762400"/>
            <a:chOff x="0" y="0"/>
            <a:chExt cx="6882244" cy="1168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82257" cy="11683238"/>
            </a:xfrm>
            <a:custGeom>
              <a:avLst/>
              <a:gdLst/>
              <a:ahLst/>
              <a:cxnLst/>
              <a:rect r="r" b="b" t="t" l="l"/>
              <a:pathLst>
                <a:path h="11683238" w="6882257">
                  <a:moveTo>
                    <a:pt x="0" y="0"/>
                  </a:moveTo>
                  <a:lnTo>
                    <a:pt x="6882257" y="0"/>
                  </a:lnTo>
                  <a:lnTo>
                    <a:pt x="6882257" y="11683238"/>
                  </a:lnTo>
                  <a:lnTo>
                    <a:pt x="0" y="11683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" r="0" b="-1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72562" y="324002"/>
            <a:ext cx="11181598" cy="1370876"/>
            <a:chOff x="0" y="0"/>
            <a:chExt cx="14908797" cy="18278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08800" cy="1827840"/>
            </a:xfrm>
            <a:custGeom>
              <a:avLst/>
              <a:gdLst/>
              <a:ahLst/>
              <a:cxnLst/>
              <a:rect r="r" b="b" t="t" l="l"/>
              <a:pathLst>
                <a:path h="1827840" w="14908800">
                  <a:moveTo>
                    <a:pt x="0" y="0"/>
                  </a:moveTo>
                  <a:lnTo>
                    <a:pt x="14908800" y="0"/>
                  </a:lnTo>
                  <a:lnTo>
                    <a:pt x="14908800" y="1827840"/>
                  </a:lnTo>
                  <a:lnTo>
                    <a:pt x="0" y="1827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30" r="0" b="-10892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71450"/>
              <a:ext cx="14908797" cy="16563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8812"/>
                </a:lnSpc>
              </a:pPr>
              <a:r>
                <a:rPr lang="en-US" sz="9180">
                  <a:solidFill>
                    <a:srgbClr val="191919"/>
                  </a:solidFill>
                  <a:latin typeface="Arimo"/>
                  <a:ea typeface="Arimo"/>
                  <a:cs typeface="Arimo"/>
                  <a:sym typeface="Arimo"/>
                </a:rPr>
                <a:t>Java's Role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178721" y="4408380"/>
            <a:ext cx="5931360" cy="139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36"/>
              </a:lnSpc>
            </a:pPr>
            <a:r>
              <a:rPr lang="en-US" sz="2799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Choosing when and how to use Java for AI systems today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483140">
            <a:off x="16555402" y="832790"/>
            <a:ext cx="835743" cy="0"/>
          </a:xfrm>
          <a:prstGeom prst="line">
            <a:avLst/>
          </a:prstGeom>
          <a:ln cap="rnd" w="2857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5840" y="598170"/>
            <a:ext cx="13685044" cy="7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5424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Java for AI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05362" y="3676317"/>
            <a:ext cx="11124724" cy="4037762"/>
            <a:chOff x="0" y="0"/>
            <a:chExt cx="14832965" cy="53836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32960" cy="5383680"/>
            </a:xfrm>
            <a:custGeom>
              <a:avLst/>
              <a:gdLst/>
              <a:ahLst/>
              <a:cxnLst/>
              <a:rect r="r" b="b" t="t" l="l"/>
              <a:pathLst>
                <a:path h="5383680" w="14832960">
                  <a:moveTo>
                    <a:pt x="0" y="0"/>
                  </a:moveTo>
                  <a:lnTo>
                    <a:pt x="14832960" y="0"/>
                  </a:lnTo>
                  <a:lnTo>
                    <a:pt x="14832960" y="5383680"/>
                  </a:lnTo>
                  <a:lnTo>
                    <a:pt x="0" y="5383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4" r="0" b="-36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14832965" cy="554560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2799">
                  <a:solidFill>
                    <a:srgbClr val="191919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Choosing Java for AI isn’t binary. It depends on role, scale, and operational constraints. Common roles: data engineering and feature pipelines (ETL, streaming); model inference inside production microservices; and model training or research where Python remains primary. A bank may run inference in a JVM-based transaction platform while scientists train models in Python and export them for serving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483140">
            <a:off x="16555402" y="832790"/>
            <a:ext cx="835743" cy="0"/>
          </a:xfrm>
          <a:prstGeom prst="line">
            <a:avLst/>
          </a:prstGeom>
          <a:ln cap="rnd" w="2857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43997" y="874157"/>
            <a:ext cx="16199282" cy="56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4079" b="true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Java for Production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3997" y="2712596"/>
            <a:ext cx="7626963" cy="167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Java delivers predictable latency, strong observability, and robust tooling for long-running services. The JVM ecosystem supports enterprise integration, security, and reliable deployment at scale.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16316" y="2712596"/>
            <a:ext cx="7626963" cy="20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Python with PyTorch/TensorFlow dominates experimentation and model prototyping. Native runtimes (C++) excel at speed and CUDA-based training, but lack the same production-grade observability.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3997" y="8808844"/>
            <a:ext cx="16199282" cy="574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Java is best for reliable inference at scale; Python/C++ lead in rapid model development and experimentation.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483140">
            <a:off x="16555402" y="832790"/>
            <a:ext cx="835743" cy="0"/>
          </a:xfrm>
          <a:prstGeom prst="line">
            <a:avLst/>
          </a:prstGeom>
          <a:ln cap="rnd" w="2857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5840" y="598170"/>
            <a:ext cx="13685044" cy="7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5424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Java AI Bridges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05362" y="3676317"/>
            <a:ext cx="11124724" cy="4037762"/>
            <a:chOff x="0" y="0"/>
            <a:chExt cx="14832965" cy="53836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32960" cy="5383680"/>
            </a:xfrm>
            <a:custGeom>
              <a:avLst/>
              <a:gdLst/>
              <a:ahLst/>
              <a:cxnLst/>
              <a:rect r="r" b="b" t="t" l="l"/>
              <a:pathLst>
                <a:path h="5383680" w="14832960">
                  <a:moveTo>
                    <a:pt x="0" y="0"/>
                  </a:moveTo>
                  <a:lnTo>
                    <a:pt x="14832960" y="0"/>
                  </a:lnTo>
                  <a:lnTo>
                    <a:pt x="14832960" y="5383680"/>
                  </a:lnTo>
                  <a:lnTo>
                    <a:pt x="0" y="5383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4" r="0" b="-36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14832965" cy="554560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2799">
                  <a:solidFill>
                    <a:srgbClr val="191919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A mature JVM stack enables practical inference and selective training via key libraries and bridges. Use DJL for a high-level API across ONNX, TensorFlow, and PyTorch backends; TensorFlow Java and TensorFlow Lite cover server-side and edge scenarios; Deeplearning4j provides a JVM-native path with ND4J numeric ops; ONNX Runtime Java binds run exported ONNX models in Java apps (e.g., Spring Boot). A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483140">
            <a:off x="16555402" y="832790"/>
            <a:ext cx="835743" cy="0"/>
          </a:xfrm>
          <a:prstGeom prst="line">
            <a:avLst/>
          </a:prstGeom>
          <a:ln cap="rnd" w="2857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448079" y="4209840"/>
            <a:ext cx="228238" cy="18002"/>
            <a:chOff x="0" y="0"/>
            <a:chExt cx="304317" cy="240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292" cy="23882"/>
            </a:xfrm>
            <a:custGeom>
              <a:avLst/>
              <a:gdLst/>
              <a:ahLst/>
              <a:cxnLst/>
              <a:rect r="r" b="b" t="t" l="l"/>
              <a:pathLst>
                <a:path h="23882" w="304292">
                  <a:moveTo>
                    <a:pt x="0" y="3937"/>
                  </a:moveTo>
                  <a:cubicBezTo>
                    <a:pt x="0" y="1778"/>
                    <a:pt x="1778" y="0"/>
                    <a:pt x="3937" y="0"/>
                  </a:cubicBezTo>
                  <a:lnTo>
                    <a:pt x="300355" y="0"/>
                  </a:lnTo>
                  <a:cubicBezTo>
                    <a:pt x="302514" y="0"/>
                    <a:pt x="304292" y="1778"/>
                    <a:pt x="304292" y="3937"/>
                  </a:cubicBezTo>
                  <a:lnTo>
                    <a:pt x="304292" y="19939"/>
                  </a:lnTo>
                  <a:cubicBezTo>
                    <a:pt x="304292" y="22098"/>
                    <a:pt x="302514" y="23876"/>
                    <a:pt x="300355" y="23876"/>
                  </a:cubicBezTo>
                  <a:lnTo>
                    <a:pt x="3937" y="23876"/>
                  </a:lnTo>
                  <a:cubicBezTo>
                    <a:pt x="1778" y="24003"/>
                    <a:pt x="0" y="22225"/>
                    <a:pt x="0" y="19939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172562" y="4209840"/>
            <a:ext cx="228238" cy="18002"/>
            <a:chOff x="0" y="0"/>
            <a:chExt cx="304317" cy="240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4292" cy="23882"/>
            </a:xfrm>
            <a:custGeom>
              <a:avLst/>
              <a:gdLst/>
              <a:ahLst/>
              <a:cxnLst/>
              <a:rect r="r" b="b" t="t" l="l"/>
              <a:pathLst>
                <a:path h="23882" w="304292">
                  <a:moveTo>
                    <a:pt x="0" y="3937"/>
                  </a:moveTo>
                  <a:cubicBezTo>
                    <a:pt x="0" y="1778"/>
                    <a:pt x="1778" y="0"/>
                    <a:pt x="3937" y="0"/>
                  </a:cubicBezTo>
                  <a:lnTo>
                    <a:pt x="300355" y="0"/>
                  </a:lnTo>
                  <a:cubicBezTo>
                    <a:pt x="302514" y="0"/>
                    <a:pt x="304292" y="1778"/>
                    <a:pt x="304292" y="3937"/>
                  </a:cubicBezTo>
                  <a:lnTo>
                    <a:pt x="304292" y="19939"/>
                  </a:lnTo>
                  <a:cubicBezTo>
                    <a:pt x="304292" y="22098"/>
                    <a:pt x="302514" y="23876"/>
                    <a:pt x="300355" y="23876"/>
                  </a:cubicBezTo>
                  <a:lnTo>
                    <a:pt x="3937" y="23876"/>
                  </a:lnTo>
                  <a:cubicBezTo>
                    <a:pt x="1778" y="24003"/>
                    <a:pt x="0" y="22225"/>
                    <a:pt x="0" y="19939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96321" y="4209840"/>
            <a:ext cx="228238" cy="18002"/>
            <a:chOff x="0" y="0"/>
            <a:chExt cx="304317" cy="240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292" cy="23882"/>
            </a:xfrm>
            <a:custGeom>
              <a:avLst/>
              <a:gdLst/>
              <a:ahLst/>
              <a:cxnLst/>
              <a:rect r="r" b="b" t="t" l="l"/>
              <a:pathLst>
                <a:path h="23882" w="304292">
                  <a:moveTo>
                    <a:pt x="0" y="3937"/>
                  </a:moveTo>
                  <a:cubicBezTo>
                    <a:pt x="0" y="1778"/>
                    <a:pt x="1778" y="0"/>
                    <a:pt x="3937" y="0"/>
                  </a:cubicBezTo>
                  <a:lnTo>
                    <a:pt x="300355" y="0"/>
                  </a:lnTo>
                  <a:cubicBezTo>
                    <a:pt x="302514" y="0"/>
                    <a:pt x="304292" y="1778"/>
                    <a:pt x="304292" y="3937"/>
                  </a:cubicBezTo>
                  <a:lnTo>
                    <a:pt x="304292" y="19939"/>
                  </a:lnTo>
                  <a:cubicBezTo>
                    <a:pt x="304292" y="22098"/>
                    <a:pt x="302514" y="23876"/>
                    <a:pt x="300355" y="23876"/>
                  </a:cubicBezTo>
                  <a:lnTo>
                    <a:pt x="3937" y="23876"/>
                  </a:lnTo>
                  <a:cubicBezTo>
                    <a:pt x="1778" y="24003"/>
                    <a:pt x="0" y="22225"/>
                    <a:pt x="0" y="19939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620795" y="4209840"/>
            <a:ext cx="228238" cy="18002"/>
            <a:chOff x="0" y="0"/>
            <a:chExt cx="304317" cy="240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4292" cy="23882"/>
            </a:xfrm>
            <a:custGeom>
              <a:avLst/>
              <a:gdLst/>
              <a:ahLst/>
              <a:cxnLst/>
              <a:rect r="r" b="b" t="t" l="l"/>
              <a:pathLst>
                <a:path h="23882" w="304292">
                  <a:moveTo>
                    <a:pt x="0" y="3937"/>
                  </a:moveTo>
                  <a:cubicBezTo>
                    <a:pt x="0" y="1778"/>
                    <a:pt x="1778" y="0"/>
                    <a:pt x="3937" y="0"/>
                  </a:cubicBezTo>
                  <a:lnTo>
                    <a:pt x="300355" y="0"/>
                  </a:lnTo>
                  <a:cubicBezTo>
                    <a:pt x="302514" y="0"/>
                    <a:pt x="304292" y="1778"/>
                    <a:pt x="304292" y="3937"/>
                  </a:cubicBezTo>
                  <a:lnTo>
                    <a:pt x="304292" y="19939"/>
                  </a:lnTo>
                  <a:cubicBezTo>
                    <a:pt x="304292" y="22098"/>
                    <a:pt x="302514" y="23876"/>
                    <a:pt x="300355" y="23876"/>
                  </a:cubicBezTo>
                  <a:lnTo>
                    <a:pt x="3937" y="23876"/>
                  </a:lnTo>
                  <a:cubicBezTo>
                    <a:pt x="1778" y="24003"/>
                    <a:pt x="0" y="22225"/>
                    <a:pt x="0" y="19939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344564" y="4209840"/>
            <a:ext cx="228238" cy="18002"/>
            <a:chOff x="0" y="0"/>
            <a:chExt cx="304317" cy="240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292" cy="23882"/>
            </a:xfrm>
            <a:custGeom>
              <a:avLst/>
              <a:gdLst/>
              <a:ahLst/>
              <a:cxnLst/>
              <a:rect r="r" b="b" t="t" l="l"/>
              <a:pathLst>
                <a:path h="23882" w="304292">
                  <a:moveTo>
                    <a:pt x="0" y="3937"/>
                  </a:moveTo>
                  <a:cubicBezTo>
                    <a:pt x="0" y="1778"/>
                    <a:pt x="1778" y="0"/>
                    <a:pt x="3937" y="0"/>
                  </a:cubicBezTo>
                  <a:lnTo>
                    <a:pt x="300355" y="0"/>
                  </a:lnTo>
                  <a:cubicBezTo>
                    <a:pt x="302514" y="0"/>
                    <a:pt x="304292" y="1778"/>
                    <a:pt x="304292" y="3937"/>
                  </a:cubicBezTo>
                  <a:lnTo>
                    <a:pt x="304292" y="19939"/>
                  </a:lnTo>
                  <a:cubicBezTo>
                    <a:pt x="304292" y="22098"/>
                    <a:pt x="302514" y="23876"/>
                    <a:pt x="300355" y="23876"/>
                  </a:cubicBezTo>
                  <a:lnTo>
                    <a:pt x="3937" y="23876"/>
                  </a:lnTo>
                  <a:cubicBezTo>
                    <a:pt x="1778" y="24003"/>
                    <a:pt x="0" y="22225"/>
                    <a:pt x="0" y="19939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52557" y="4000319"/>
            <a:ext cx="2494798" cy="418319"/>
            <a:chOff x="0" y="0"/>
            <a:chExt cx="3326397" cy="5577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26384" cy="557784"/>
            </a:xfrm>
            <a:custGeom>
              <a:avLst/>
              <a:gdLst/>
              <a:ahLst/>
              <a:cxnLst/>
              <a:rect r="r" b="b" t="t" l="l"/>
              <a:pathLst>
                <a:path h="557784" w="3326384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3233420" y="0"/>
                  </a:lnTo>
                  <a:cubicBezTo>
                    <a:pt x="3284728" y="0"/>
                    <a:pt x="3326384" y="41656"/>
                    <a:pt x="3326384" y="92964"/>
                  </a:cubicBezTo>
                  <a:lnTo>
                    <a:pt x="3326384" y="464820"/>
                  </a:lnTo>
                  <a:cubicBezTo>
                    <a:pt x="3326384" y="516128"/>
                    <a:pt x="3284728" y="557784"/>
                    <a:pt x="3233420" y="557784"/>
                  </a:cubicBezTo>
                  <a:lnTo>
                    <a:pt x="92964" y="557784"/>
                  </a:lnTo>
                  <a:cubicBezTo>
                    <a:pt x="41656" y="557784"/>
                    <a:pt x="0" y="516128"/>
                    <a:pt x="0" y="464820"/>
                  </a:cubicBezTo>
                  <a:close/>
                </a:path>
              </a:pathLst>
            </a:custGeom>
            <a:solidFill>
              <a:srgbClr val="16161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190960" y="4419362"/>
            <a:ext cx="18002" cy="647281"/>
            <a:chOff x="0" y="0"/>
            <a:chExt cx="24003" cy="8630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876" cy="862965"/>
            </a:xfrm>
            <a:custGeom>
              <a:avLst/>
              <a:gdLst/>
              <a:ahLst/>
              <a:cxnLst/>
              <a:rect r="r" b="b" t="t" l="l"/>
              <a:pathLst>
                <a:path h="862965" w="23876">
                  <a:moveTo>
                    <a:pt x="0" y="3937"/>
                  </a:moveTo>
                  <a:cubicBezTo>
                    <a:pt x="0" y="1778"/>
                    <a:pt x="1778" y="0"/>
                    <a:pt x="3937" y="0"/>
                  </a:cubicBezTo>
                  <a:lnTo>
                    <a:pt x="19939" y="0"/>
                  </a:lnTo>
                  <a:cubicBezTo>
                    <a:pt x="22098" y="0"/>
                    <a:pt x="23876" y="1778"/>
                    <a:pt x="23876" y="3937"/>
                  </a:cubicBezTo>
                  <a:lnTo>
                    <a:pt x="23876" y="859028"/>
                  </a:lnTo>
                  <a:cubicBezTo>
                    <a:pt x="23876" y="861187"/>
                    <a:pt x="22098" y="862965"/>
                    <a:pt x="19939" y="862965"/>
                  </a:cubicBezTo>
                  <a:lnTo>
                    <a:pt x="3937" y="862965"/>
                  </a:lnTo>
                  <a:cubicBezTo>
                    <a:pt x="1778" y="862965"/>
                    <a:pt x="0" y="861187"/>
                    <a:pt x="0" y="859028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676317" y="4000319"/>
            <a:ext cx="2494798" cy="418319"/>
            <a:chOff x="0" y="0"/>
            <a:chExt cx="3326397" cy="5577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26384" cy="557784"/>
            </a:xfrm>
            <a:custGeom>
              <a:avLst/>
              <a:gdLst/>
              <a:ahLst/>
              <a:cxnLst/>
              <a:rect r="r" b="b" t="t" l="l"/>
              <a:pathLst>
                <a:path h="557784" w="3326384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3233420" y="0"/>
                  </a:lnTo>
                  <a:cubicBezTo>
                    <a:pt x="3284728" y="0"/>
                    <a:pt x="3326384" y="41656"/>
                    <a:pt x="3326384" y="92964"/>
                  </a:cubicBezTo>
                  <a:lnTo>
                    <a:pt x="3326384" y="464820"/>
                  </a:lnTo>
                  <a:cubicBezTo>
                    <a:pt x="3326384" y="516128"/>
                    <a:pt x="3284728" y="557784"/>
                    <a:pt x="3233420" y="557784"/>
                  </a:cubicBezTo>
                  <a:lnTo>
                    <a:pt x="92964" y="557784"/>
                  </a:lnTo>
                  <a:cubicBezTo>
                    <a:pt x="41656" y="557784"/>
                    <a:pt x="0" y="516128"/>
                    <a:pt x="0" y="464820"/>
                  </a:cubicBezTo>
                  <a:close/>
                </a:path>
              </a:pathLst>
            </a:custGeom>
            <a:solidFill>
              <a:srgbClr val="16161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914719" y="4419362"/>
            <a:ext cx="18002" cy="647281"/>
            <a:chOff x="0" y="0"/>
            <a:chExt cx="24003" cy="8630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876" cy="862965"/>
            </a:xfrm>
            <a:custGeom>
              <a:avLst/>
              <a:gdLst/>
              <a:ahLst/>
              <a:cxnLst/>
              <a:rect r="r" b="b" t="t" l="l"/>
              <a:pathLst>
                <a:path h="862965" w="23876">
                  <a:moveTo>
                    <a:pt x="0" y="3937"/>
                  </a:moveTo>
                  <a:cubicBezTo>
                    <a:pt x="0" y="1778"/>
                    <a:pt x="1778" y="0"/>
                    <a:pt x="3937" y="0"/>
                  </a:cubicBezTo>
                  <a:lnTo>
                    <a:pt x="19939" y="0"/>
                  </a:lnTo>
                  <a:cubicBezTo>
                    <a:pt x="22098" y="0"/>
                    <a:pt x="23876" y="1778"/>
                    <a:pt x="23876" y="3937"/>
                  </a:cubicBezTo>
                  <a:lnTo>
                    <a:pt x="23876" y="859028"/>
                  </a:lnTo>
                  <a:cubicBezTo>
                    <a:pt x="23876" y="861187"/>
                    <a:pt x="22098" y="862965"/>
                    <a:pt x="19939" y="862965"/>
                  </a:cubicBezTo>
                  <a:lnTo>
                    <a:pt x="3937" y="862965"/>
                  </a:lnTo>
                  <a:cubicBezTo>
                    <a:pt x="1778" y="862965"/>
                    <a:pt x="0" y="861187"/>
                    <a:pt x="0" y="859028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400800" y="4000319"/>
            <a:ext cx="2494798" cy="418319"/>
            <a:chOff x="0" y="0"/>
            <a:chExt cx="3326397" cy="5577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26384" cy="557784"/>
            </a:xfrm>
            <a:custGeom>
              <a:avLst/>
              <a:gdLst/>
              <a:ahLst/>
              <a:cxnLst/>
              <a:rect r="r" b="b" t="t" l="l"/>
              <a:pathLst>
                <a:path h="557784" w="3326384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3233420" y="0"/>
                  </a:lnTo>
                  <a:cubicBezTo>
                    <a:pt x="3284728" y="0"/>
                    <a:pt x="3326384" y="41656"/>
                    <a:pt x="3326384" y="92964"/>
                  </a:cubicBezTo>
                  <a:lnTo>
                    <a:pt x="3326384" y="464820"/>
                  </a:lnTo>
                  <a:cubicBezTo>
                    <a:pt x="3326384" y="516128"/>
                    <a:pt x="3284728" y="557784"/>
                    <a:pt x="3233420" y="557784"/>
                  </a:cubicBezTo>
                  <a:lnTo>
                    <a:pt x="92964" y="557784"/>
                  </a:lnTo>
                  <a:cubicBezTo>
                    <a:pt x="41656" y="557784"/>
                    <a:pt x="0" y="516128"/>
                    <a:pt x="0" y="464820"/>
                  </a:cubicBezTo>
                  <a:close/>
                </a:path>
              </a:pathLst>
            </a:custGeom>
            <a:solidFill>
              <a:srgbClr val="16161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639202" y="4419362"/>
            <a:ext cx="18002" cy="647281"/>
            <a:chOff x="0" y="0"/>
            <a:chExt cx="24003" cy="8630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876" cy="862965"/>
            </a:xfrm>
            <a:custGeom>
              <a:avLst/>
              <a:gdLst/>
              <a:ahLst/>
              <a:cxnLst/>
              <a:rect r="r" b="b" t="t" l="l"/>
              <a:pathLst>
                <a:path h="862965" w="23876">
                  <a:moveTo>
                    <a:pt x="0" y="3937"/>
                  </a:moveTo>
                  <a:cubicBezTo>
                    <a:pt x="0" y="1778"/>
                    <a:pt x="1778" y="0"/>
                    <a:pt x="3937" y="0"/>
                  </a:cubicBezTo>
                  <a:lnTo>
                    <a:pt x="19939" y="0"/>
                  </a:lnTo>
                  <a:cubicBezTo>
                    <a:pt x="22098" y="0"/>
                    <a:pt x="23876" y="1778"/>
                    <a:pt x="23876" y="3937"/>
                  </a:cubicBezTo>
                  <a:lnTo>
                    <a:pt x="23876" y="859028"/>
                  </a:lnTo>
                  <a:cubicBezTo>
                    <a:pt x="23876" y="861187"/>
                    <a:pt x="22098" y="862965"/>
                    <a:pt x="19939" y="862965"/>
                  </a:cubicBezTo>
                  <a:lnTo>
                    <a:pt x="3937" y="862965"/>
                  </a:lnTo>
                  <a:cubicBezTo>
                    <a:pt x="1778" y="862965"/>
                    <a:pt x="0" y="861187"/>
                    <a:pt x="0" y="859028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25283" y="4000319"/>
            <a:ext cx="2494798" cy="418319"/>
            <a:chOff x="0" y="0"/>
            <a:chExt cx="3326397" cy="5577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26384" cy="557784"/>
            </a:xfrm>
            <a:custGeom>
              <a:avLst/>
              <a:gdLst/>
              <a:ahLst/>
              <a:cxnLst/>
              <a:rect r="r" b="b" t="t" l="l"/>
              <a:pathLst>
                <a:path h="557784" w="3326384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3233420" y="0"/>
                  </a:lnTo>
                  <a:cubicBezTo>
                    <a:pt x="3284728" y="0"/>
                    <a:pt x="3326384" y="41656"/>
                    <a:pt x="3326384" y="92964"/>
                  </a:cubicBezTo>
                  <a:lnTo>
                    <a:pt x="3326384" y="464820"/>
                  </a:lnTo>
                  <a:cubicBezTo>
                    <a:pt x="3326384" y="516128"/>
                    <a:pt x="3284728" y="557784"/>
                    <a:pt x="3233420" y="557784"/>
                  </a:cubicBezTo>
                  <a:lnTo>
                    <a:pt x="92964" y="557784"/>
                  </a:lnTo>
                  <a:cubicBezTo>
                    <a:pt x="41656" y="557784"/>
                    <a:pt x="0" y="516128"/>
                    <a:pt x="0" y="464820"/>
                  </a:cubicBezTo>
                  <a:close/>
                </a:path>
              </a:pathLst>
            </a:custGeom>
            <a:solidFill>
              <a:srgbClr val="16161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362962" y="4419362"/>
            <a:ext cx="18002" cy="647281"/>
            <a:chOff x="0" y="0"/>
            <a:chExt cx="24003" cy="8630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876" cy="862965"/>
            </a:xfrm>
            <a:custGeom>
              <a:avLst/>
              <a:gdLst/>
              <a:ahLst/>
              <a:cxnLst/>
              <a:rect r="r" b="b" t="t" l="l"/>
              <a:pathLst>
                <a:path h="862965" w="23876">
                  <a:moveTo>
                    <a:pt x="0" y="3937"/>
                  </a:moveTo>
                  <a:cubicBezTo>
                    <a:pt x="0" y="1778"/>
                    <a:pt x="1778" y="0"/>
                    <a:pt x="3937" y="0"/>
                  </a:cubicBezTo>
                  <a:lnTo>
                    <a:pt x="19939" y="0"/>
                  </a:lnTo>
                  <a:cubicBezTo>
                    <a:pt x="22098" y="0"/>
                    <a:pt x="23876" y="1778"/>
                    <a:pt x="23876" y="3937"/>
                  </a:cubicBezTo>
                  <a:lnTo>
                    <a:pt x="23876" y="859028"/>
                  </a:lnTo>
                  <a:cubicBezTo>
                    <a:pt x="23876" y="861187"/>
                    <a:pt x="22098" y="862965"/>
                    <a:pt x="19939" y="862965"/>
                  </a:cubicBezTo>
                  <a:lnTo>
                    <a:pt x="3937" y="862965"/>
                  </a:lnTo>
                  <a:cubicBezTo>
                    <a:pt x="1778" y="862965"/>
                    <a:pt x="0" y="861187"/>
                    <a:pt x="0" y="859028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849043" y="4000319"/>
            <a:ext cx="2494798" cy="418319"/>
            <a:chOff x="0" y="0"/>
            <a:chExt cx="3326397" cy="5577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26384" cy="557784"/>
            </a:xfrm>
            <a:custGeom>
              <a:avLst/>
              <a:gdLst/>
              <a:ahLst/>
              <a:cxnLst/>
              <a:rect r="r" b="b" t="t" l="l"/>
              <a:pathLst>
                <a:path h="557784" w="3326384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3233420" y="0"/>
                  </a:lnTo>
                  <a:cubicBezTo>
                    <a:pt x="3284728" y="0"/>
                    <a:pt x="3326384" y="41656"/>
                    <a:pt x="3326384" y="92964"/>
                  </a:cubicBezTo>
                  <a:lnTo>
                    <a:pt x="3326384" y="464820"/>
                  </a:lnTo>
                  <a:cubicBezTo>
                    <a:pt x="3326384" y="516128"/>
                    <a:pt x="3284728" y="557784"/>
                    <a:pt x="3233420" y="557784"/>
                  </a:cubicBezTo>
                  <a:lnTo>
                    <a:pt x="92964" y="557784"/>
                  </a:lnTo>
                  <a:cubicBezTo>
                    <a:pt x="41656" y="557784"/>
                    <a:pt x="0" y="516128"/>
                    <a:pt x="0" y="464820"/>
                  </a:cubicBezTo>
                  <a:close/>
                </a:path>
              </a:pathLst>
            </a:custGeom>
            <a:solidFill>
              <a:srgbClr val="16161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087436" y="4419362"/>
            <a:ext cx="18002" cy="647281"/>
            <a:chOff x="0" y="0"/>
            <a:chExt cx="24003" cy="86304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876" cy="862965"/>
            </a:xfrm>
            <a:custGeom>
              <a:avLst/>
              <a:gdLst/>
              <a:ahLst/>
              <a:cxnLst/>
              <a:rect r="r" b="b" t="t" l="l"/>
              <a:pathLst>
                <a:path h="862965" w="23876">
                  <a:moveTo>
                    <a:pt x="0" y="3937"/>
                  </a:moveTo>
                  <a:cubicBezTo>
                    <a:pt x="0" y="1778"/>
                    <a:pt x="1778" y="0"/>
                    <a:pt x="3937" y="0"/>
                  </a:cubicBezTo>
                  <a:lnTo>
                    <a:pt x="19939" y="0"/>
                  </a:lnTo>
                  <a:cubicBezTo>
                    <a:pt x="22098" y="0"/>
                    <a:pt x="23876" y="1778"/>
                    <a:pt x="23876" y="3937"/>
                  </a:cubicBezTo>
                  <a:lnTo>
                    <a:pt x="23876" y="859028"/>
                  </a:lnTo>
                  <a:cubicBezTo>
                    <a:pt x="23876" y="861187"/>
                    <a:pt x="22098" y="862965"/>
                    <a:pt x="19939" y="862965"/>
                  </a:cubicBezTo>
                  <a:lnTo>
                    <a:pt x="3937" y="862965"/>
                  </a:lnTo>
                  <a:cubicBezTo>
                    <a:pt x="1778" y="862965"/>
                    <a:pt x="0" y="861187"/>
                    <a:pt x="0" y="859028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573517" y="4000319"/>
            <a:ext cx="2494798" cy="418319"/>
            <a:chOff x="0" y="0"/>
            <a:chExt cx="3326397" cy="55775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26384" cy="557784"/>
            </a:xfrm>
            <a:custGeom>
              <a:avLst/>
              <a:gdLst/>
              <a:ahLst/>
              <a:cxnLst/>
              <a:rect r="r" b="b" t="t" l="l"/>
              <a:pathLst>
                <a:path h="557784" w="3326384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3233420" y="0"/>
                  </a:lnTo>
                  <a:cubicBezTo>
                    <a:pt x="3284728" y="0"/>
                    <a:pt x="3326384" y="41656"/>
                    <a:pt x="3326384" y="92964"/>
                  </a:cubicBezTo>
                  <a:lnTo>
                    <a:pt x="3326384" y="464820"/>
                  </a:lnTo>
                  <a:cubicBezTo>
                    <a:pt x="3326384" y="516128"/>
                    <a:pt x="3284728" y="557784"/>
                    <a:pt x="3233420" y="557784"/>
                  </a:cubicBezTo>
                  <a:lnTo>
                    <a:pt x="92964" y="557784"/>
                  </a:lnTo>
                  <a:cubicBezTo>
                    <a:pt x="41656" y="557784"/>
                    <a:pt x="0" y="516128"/>
                    <a:pt x="0" y="464820"/>
                  </a:cubicBezTo>
                  <a:close/>
                </a:path>
              </a:pathLst>
            </a:custGeom>
            <a:solidFill>
              <a:srgbClr val="16161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811205" y="4419362"/>
            <a:ext cx="18002" cy="647281"/>
            <a:chOff x="0" y="0"/>
            <a:chExt cx="24003" cy="8630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876" cy="862965"/>
            </a:xfrm>
            <a:custGeom>
              <a:avLst/>
              <a:gdLst/>
              <a:ahLst/>
              <a:cxnLst/>
              <a:rect r="r" b="b" t="t" l="l"/>
              <a:pathLst>
                <a:path h="862965" w="23876">
                  <a:moveTo>
                    <a:pt x="0" y="3937"/>
                  </a:moveTo>
                  <a:cubicBezTo>
                    <a:pt x="0" y="1778"/>
                    <a:pt x="1778" y="0"/>
                    <a:pt x="3937" y="0"/>
                  </a:cubicBezTo>
                  <a:lnTo>
                    <a:pt x="19939" y="0"/>
                  </a:lnTo>
                  <a:cubicBezTo>
                    <a:pt x="22098" y="0"/>
                    <a:pt x="23876" y="1778"/>
                    <a:pt x="23876" y="3937"/>
                  </a:cubicBezTo>
                  <a:lnTo>
                    <a:pt x="23876" y="859028"/>
                  </a:lnTo>
                  <a:cubicBezTo>
                    <a:pt x="23876" y="861187"/>
                    <a:pt x="22098" y="862965"/>
                    <a:pt x="19939" y="862965"/>
                  </a:cubicBezTo>
                  <a:lnTo>
                    <a:pt x="3937" y="862965"/>
                  </a:lnTo>
                  <a:cubicBezTo>
                    <a:pt x="1778" y="862965"/>
                    <a:pt x="0" y="861187"/>
                    <a:pt x="0" y="859028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43997" y="845582"/>
            <a:ext cx="16199282" cy="66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441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AI with Java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43997" y="2465308"/>
            <a:ext cx="2311918" cy="10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Define Success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3997" y="5284441"/>
            <a:ext cx="2311918" cy="350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Set clear targets for latency (p50/p99), throughput, memory, and total cost to judge AI workloads.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767757" y="2465308"/>
            <a:ext cx="2311918" cy="6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Identify Role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767757" y="5284441"/>
            <a:ext cx="2311918" cy="4594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Choose whether the JVM handles inference, data pipelines, or training, and pick candidate libraries (DJL, ONNX Runtime, TensorFlow Java).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492240" y="2465308"/>
            <a:ext cx="2311918" cy="6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Prototype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492240" y="5284441"/>
            <a:ext cx="2311918" cy="350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Export the model (ONNX or TensorFlow SavedModel) and run a minimal service inside a JVM process.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216723" y="2465308"/>
            <a:ext cx="2311918" cy="6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Benchmark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216723" y="5284441"/>
            <a:ext cx="2311918" cy="314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Stress-test with realistic load; measure p50/p99 latency, throughput, and CPU/GPU utilization.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40483" y="2465308"/>
            <a:ext cx="2311918" cy="6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Optimize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940483" y="5284441"/>
            <a:ext cx="2311918" cy="276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Tune with GraalVM native-image, JNI bridges, or model quantization to meet targets.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664957" y="2465308"/>
            <a:ext cx="2311918" cy="10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Operationalize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664957" y="5284441"/>
            <a:ext cx="2311918" cy="386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Package with Docker, add observability (JVM telemetry, tracing), enable autoscaling, and integrate CI/CD.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483140">
            <a:off x="16555402" y="832790"/>
            <a:ext cx="835743" cy="0"/>
          </a:xfrm>
          <a:prstGeom prst="line">
            <a:avLst/>
          </a:prstGeom>
          <a:ln cap="rnd" w="2857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905762" y="686162"/>
            <a:ext cx="7428957" cy="2589838"/>
            <a:chOff x="0" y="0"/>
            <a:chExt cx="9905276" cy="34531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05365" cy="3453130"/>
            </a:xfrm>
            <a:custGeom>
              <a:avLst/>
              <a:gdLst/>
              <a:ahLst/>
              <a:cxnLst/>
              <a:rect r="r" b="b" t="t" l="l"/>
              <a:pathLst>
                <a:path h="3453130" w="9905365">
                  <a:moveTo>
                    <a:pt x="0" y="575564"/>
                  </a:moveTo>
                  <a:cubicBezTo>
                    <a:pt x="0" y="257683"/>
                    <a:pt x="257683" y="0"/>
                    <a:pt x="575564" y="0"/>
                  </a:cubicBezTo>
                  <a:lnTo>
                    <a:pt x="9329801" y="0"/>
                  </a:lnTo>
                  <a:cubicBezTo>
                    <a:pt x="9647682" y="0"/>
                    <a:pt x="9905365" y="257683"/>
                    <a:pt x="9905365" y="575564"/>
                  </a:cubicBezTo>
                  <a:lnTo>
                    <a:pt x="9905365" y="2877566"/>
                  </a:lnTo>
                  <a:cubicBezTo>
                    <a:pt x="9905365" y="3195447"/>
                    <a:pt x="9647682" y="3453130"/>
                    <a:pt x="9329801" y="3453130"/>
                  </a:cubicBezTo>
                  <a:lnTo>
                    <a:pt x="575564" y="3453130"/>
                  </a:lnTo>
                  <a:cubicBezTo>
                    <a:pt x="257683" y="3453130"/>
                    <a:pt x="0" y="3195447"/>
                    <a:pt x="0" y="2877566"/>
                  </a:cubicBezTo>
                  <a:close/>
                </a:path>
              </a:pathLst>
            </a:custGeom>
            <a:solidFill>
              <a:srgbClr val="16161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05762" y="3695757"/>
            <a:ext cx="7428957" cy="2589838"/>
            <a:chOff x="0" y="0"/>
            <a:chExt cx="9905276" cy="34531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05365" cy="3453130"/>
            </a:xfrm>
            <a:custGeom>
              <a:avLst/>
              <a:gdLst/>
              <a:ahLst/>
              <a:cxnLst/>
              <a:rect r="r" b="b" t="t" l="l"/>
              <a:pathLst>
                <a:path h="3453130" w="9905365">
                  <a:moveTo>
                    <a:pt x="0" y="575564"/>
                  </a:moveTo>
                  <a:cubicBezTo>
                    <a:pt x="0" y="257683"/>
                    <a:pt x="257683" y="0"/>
                    <a:pt x="575564" y="0"/>
                  </a:cubicBezTo>
                  <a:lnTo>
                    <a:pt x="9329801" y="0"/>
                  </a:lnTo>
                  <a:cubicBezTo>
                    <a:pt x="9647682" y="0"/>
                    <a:pt x="9905365" y="257683"/>
                    <a:pt x="9905365" y="575564"/>
                  </a:cubicBezTo>
                  <a:lnTo>
                    <a:pt x="9905365" y="2877566"/>
                  </a:lnTo>
                  <a:cubicBezTo>
                    <a:pt x="9905365" y="3195447"/>
                    <a:pt x="9647682" y="3453130"/>
                    <a:pt x="9329801" y="3453130"/>
                  </a:cubicBezTo>
                  <a:lnTo>
                    <a:pt x="575564" y="3453130"/>
                  </a:lnTo>
                  <a:cubicBezTo>
                    <a:pt x="257683" y="3453130"/>
                    <a:pt x="0" y="3195447"/>
                    <a:pt x="0" y="2877566"/>
                  </a:cubicBezTo>
                  <a:close/>
                </a:path>
              </a:pathLst>
            </a:custGeom>
            <a:solidFill>
              <a:srgbClr val="16161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905762" y="6705362"/>
            <a:ext cx="7428957" cy="2589838"/>
            <a:chOff x="0" y="0"/>
            <a:chExt cx="9905276" cy="34531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05365" cy="3453130"/>
            </a:xfrm>
            <a:custGeom>
              <a:avLst/>
              <a:gdLst/>
              <a:ahLst/>
              <a:cxnLst/>
              <a:rect r="r" b="b" t="t" l="l"/>
              <a:pathLst>
                <a:path h="3453130" w="9905365">
                  <a:moveTo>
                    <a:pt x="0" y="575564"/>
                  </a:moveTo>
                  <a:cubicBezTo>
                    <a:pt x="0" y="257683"/>
                    <a:pt x="257683" y="0"/>
                    <a:pt x="575564" y="0"/>
                  </a:cubicBezTo>
                  <a:lnTo>
                    <a:pt x="9329801" y="0"/>
                  </a:lnTo>
                  <a:cubicBezTo>
                    <a:pt x="9647682" y="0"/>
                    <a:pt x="9905365" y="257683"/>
                    <a:pt x="9905365" y="575564"/>
                  </a:cubicBezTo>
                  <a:lnTo>
                    <a:pt x="9905365" y="2877566"/>
                  </a:lnTo>
                  <a:cubicBezTo>
                    <a:pt x="9905365" y="3195447"/>
                    <a:pt x="9647682" y="3453130"/>
                    <a:pt x="9329801" y="3453130"/>
                  </a:cubicBezTo>
                  <a:lnTo>
                    <a:pt x="575564" y="3453130"/>
                  </a:lnTo>
                  <a:cubicBezTo>
                    <a:pt x="257683" y="3453130"/>
                    <a:pt x="0" y="3195447"/>
                    <a:pt x="0" y="2877566"/>
                  </a:cubicBezTo>
                  <a:close/>
                </a:path>
              </a:pathLst>
            </a:custGeom>
            <a:solidFill>
              <a:srgbClr val="16161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43997" y="788432"/>
            <a:ext cx="7055282" cy="139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Startup, Memory, Throughput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997" y="6903720"/>
            <a:ext cx="7055282" cy="10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91919"/>
                </a:solidFill>
                <a:latin typeface="Arial Unicode"/>
                <a:ea typeface="Arial Unicode"/>
                <a:cs typeface="Arial Unicode"/>
                <a:sym typeface="Arial Unicode"/>
              </a:rPr>
              <a:t>Quantified costs guide architecture choices for production AI in Java.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0716" y="778907"/>
            <a:ext cx="6179039" cy="134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EEEEEE"/>
                </a:solidFill>
                <a:latin typeface="Arimo"/>
                <a:ea typeface="Arimo"/>
                <a:cs typeface="Arimo"/>
                <a:sym typeface="Arimo"/>
              </a:rPr>
              <a:t>~600 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30716" y="2027158"/>
            <a:ext cx="6179039" cy="936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EEEEE"/>
                </a:solidFill>
                <a:latin typeface="Arial Unicode"/>
                <a:ea typeface="Arial Unicode"/>
                <a:cs typeface="Arial Unicode"/>
                <a:sym typeface="Arial Unicode"/>
              </a:rPr>
              <a:t>JVM cold-start range; native-process cold-start often &lt;100 ms.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30716" y="3789226"/>
            <a:ext cx="6179039" cy="134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EEEEEE"/>
                </a:solidFill>
                <a:latin typeface="Arimo"/>
                <a:ea typeface="Arimo"/>
                <a:cs typeface="Arimo"/>
                <a:sym typeface="Arimo"/>
              </a:rPr>
              <a:t>+250 MB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30716" y="5036763"/>
            <a:ext cx="6179039" cy="936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EEEEE"/>
                </a:solidFill>
                <a:latin typeface="Arial Unicode"/>
                <a:ea typeface="Arial Unicode"/>
                <a:cs typeface="Arial Unicode"/>
                <a:sym typeface="Arial Unicode"/>
              </a:rPr>
              <a:t>JVM heap baseline added for a small model service.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30716" y="6798821"/>
            <a:ext cx="6179039" cy="134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EEEEEE"/>
                </a:solidFill>
                <a:latin typeface="Arimo"/>
                <a:ea typeface="Arimo"/>
                <a:cs typeface="Arimo"/>
                <a:sym typeface="Arimo"/>
              </a:rPr>
              <a:t>2x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30716" y="8047082"/>
            <a:ext cx="6179039" cy="936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EEEEE"/>
                </a:solidFill>
                <a:latin typeface="Arial Unicode"/>
                <a:ea typeface="Arial Unicode"/>
                <a:cs typeface="Arial Unicode"/>
                <a:sym typeface="Arial Unicode"/>
              </a:rPr>
              <a:t>Throughput vs a Python Flask endpoint for the same model with efficient bindings.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483140">
            <a:off x="16555402" y="832790"/>
            <a:ext cx="835743" cy="0"/>
          </a:xfrm>
          <a:prstGeom prst="line">
            <a:avLst/>
          </a:prstGeom>
          <a:ln cap="rnd" w="2857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5840" y="598170"/>
            <a:ext cx="13685044" cy="7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5424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Java Fit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05362" y="3676317"/>
            <a:ext cx="11124724" cy="4037762"/>
            <a:chOff x="0" y="0"/>
            <a:chExt cx="14832965" cy="53836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32960" cy="5383680"/>
            </a:xfrm>
            <a:custGeom>
              <a:avLst/>
              <a:gdLst/>
              <a:ahLst/>
              <a:cxnLst/>
              <a:rect r="r" b="b" t="t" l="l"/>
              <a:pathLst>
                <a:path h="5383680" w="14832960">
                  <a:moveTo>
                    <a:pt x="0" y="0"/>
                  </a:moveTo>
                  <a:lnTo>
                    <a:pt x="14832960" y="0"/>
                  </a:lnTo>
                  <a:lnTo>
                    <a:pt x="14832960" y="5383680"/>
                  </a:lnTo>
                  <a:lnTo>
                    <a:pt x="0" y="5383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4" r="0" b="-36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14832965" cy="554560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2799">
                  <a:solidFill>
                    <a:srgbClr val="191919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Choose Java when production constraints favor the JVM: tight integration, observability, and sustained throughput. For rapid research, use a hybrid path—Python for experiments, export to ONNX/TensorFlow, then serve in Java. Benchmark first: run the 6-step evaluation on one model, capture p50/p99, throughput, and cost, then decide pure-Java, hybrid, or native serving, and reserve GraalVM/JNI only ·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483140">
            <a:off x="16555402" y="832790"/>
            <a:ext cx="835743" cy="0"/>
          </a:xfrm>
          <a:prstGeom prst="line">
            <a:avLst/>
          </a:prstGeom>
          <a:ln cap="rnd" w="2857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5840" y="598170"/>
            <a:ext cx="13685044" cy="7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5424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Java for AI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05362" y="3676317"/>
            <a:ext cx="11124724" cy="4266724"/>
            <a:chOff x="0" y="0"/>
            <a:chExt cx="14832965" cy="56889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32960" cy="5688960"/>
            </a:xfrm>
            <a:custGeom>
              <a:avLst/>
              <a:gdLst/>
              <a:ahLst/>
              <a:cxnLst/>
              <a:rect r="r" b="b" t="t" l="l"/>
              <a:pathLst>
                <a:path h="5688960" w="14832960">
                  <a:moveTo>
                    <a:pt x="0" y="0"/>
                  </a:moveTo>
                  <a:lnTo>
                    <a:pt x="14832960" y="0"/>
                  </a:lnTo>
                  <a:lnTo>
                    <a:pt x="14832960" y="5688960"/>
                  </a:lnTo>
                  <a:lnTo>
                    <a:pt x="0" y="5688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3" r="0" b="-80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14832965" cy="578421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855"/>
                </a:lnSpc>
              </a:pPr>
              <a:r>
                <a:rPr lang="en-US" sz="2379">
                  <a:solidFill>
                    <a:srgbClr val="191919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Java proves its value where production constraints favor the JVM: reliable, observable, ecosystem-rich. </a:t>
              </a:r>
            </a:p>
            <a:p>
              <a:pPr algn="l">
                <a:lnSpc>
                  <a:spcPts val="3855"/>
                </a:lnSpc>
              </a:pPr>
              <a:r>
                <a:rPr lang="en-US" sz="2379">
                  <a:solidFill>
                    <a:srgbClr val="191919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Use-case fit matters: inference, microservices, data pipelines, or full training each bring trade-offs. </a:t>
              </a:r>
            </a:p>
            <a:p>
              <a:pPr algn="l">
                <a:lnSpc>
                  <a:spcPts val="3855"/>
                </a:lnSpc>
              </a:pPr>
              <a:r>
                <a:rPr lang="en-US" sz="2379">
                  <a:solidFill>
                    <a:srgbClr val="191919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A practical plan centers on DJL or Deeplearning4j, solid serving architecture, and targeted benchmarks. </a:t>
              </a:r>
            </a:p>
            <a:p>
              <a:pPr algn="l">
                <a:lnSpc>
                  <a:spcPts val="3855"/>
                </a:lnSpc>
              </a:pPr>
              <a:r>
                <a:rPr lang="en-US" sz="2379">
                  <a:solidFill>
                    <a:srgbClr val="191919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Operational factors—startup time, memory, tooling—shape pure Java, polyglot, or híbr̥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DAHZK098zVU</dc:identifier>
  <dcterms:modified xsi:type="dcterms:W3CDTF">2011-08-01T06:04:30Z</dcterms:modified>
  <cp:revision>1</cp:revision>
  <dc:title>Javas Role.pptx</dc:title>
</cp:coreProperties>
</file>